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3024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4F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MonIDEAgentIA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503920" cy="0"/>
          </a:xfrm>
          <a:prstGeom prst="line">
            <a:avLst/>
          </a:prstGeom>
          <a:noFill/>
          <a:ln w="25400">
            <a:solidFill>
              <a:srgbClr val="233554"/>
            </a:solidFill>
            <a:prstDash val="solid"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54305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🚀 MonIDEAgentIA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57175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CCD6F6"/>
                </a:solidFill>
              </a:rPr>
              <a:t>L'IDE qui ne se contente pas de coder, il exécute.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60045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892B0"/>
                </a:solidFill>
              </a:rPr>
              <a:t>La première plateforme hybride réunissant un Éditeur de Code IA, des Agents Autonomes et des Workflows Visuels.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999308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❌ Le Problème du Marché Actuel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CD6F6"/>
                </a:solidFill>
              </a:rPr>
              <a:t>Les développeurs perdent un temps infini à jongler entre des outils déconnectés.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2410097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500"/>
              </a:lnSpc>
              <a:buSzPct val="100000"/>
              <a:buChar char="•"/>
            </a:pPr>
            <a:endParaRPr lang="en-US" sz="1800" dirty="0">
              <a:solidFill>
                <a:srgbClr val="8892B0"/>
              </a:solidFill>
            </a:endParaRPr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endParaRPr lang="en-US" dirty="0">
              <a:solidFill>
                <a:srgbClr val="8892B0"/>
              </a:solidFill>
            </a:endParaRPr>
          </a:p>
          <a:p>
            <a:pPr>
              <a:lnSpc>
                <a:spcPts val="3500"/>
              </a:lnSpc>
              <a:buSzPct val="100000"/>
            </a:pPr>
            <a:r>
              <a:rPr lang="en-US" sz="1800" dirty="0">
                <a:solidFill>
                  <a:srgbClr val="8892B0"/>
                </a:solidFill>
              </a:rPr>
              <a:t>• Les IDE classiques (VS Code, IntelliJ) sont passifs.</a:t>
            </a:r>
            <a:endParaRPr lang="en-US" sz="1800" dirty="0"/>
          </a:p>
          <a:p>
            <a:pPr>
              <a:lnSpc>
                <a:spcPts val="3500"/>
              </a:lnSpc>
              <a:buSzPct val="100000"/>
            </a:pPr>
            <a:r>
              <a:rPr lang="en-US" sz="1800" dirty="0">
                <a:solidFill>
                  <a:srgbClr val="8892B0"/>
                </a:solidFill>
              </a:rPr>
              <a:t>• Les IDE IA de 1ère génération (Cursor, Copilot) génèrent du texte mais n'exécutent pas.</a:t>
            </a:r>
            <a:endParaRPr lang="en-US" sz="1800" dirty="0"/>
          </a:p>
          <a:p>
            <a:pPr>
              <a:lnSpc>
                <a:spcPts val="3500"/>
              </a:lnSpc>
              <a:buSzPct val="100000"/>
            </a:pPr>
            <a:r>
              <a:rPr lang="en-US" sz="1800" dirty="0">
                <a:solidFill>
                  <a:srgbClr val="8892B0"/>
                </a:solidFill>
              </a:rPr>
              <a:t>• Les outils d'automatisation (n8n, Zapier) sont déconnectés du code source.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6B6B"/>
                </a:solidFill>
              </a:rPr>
              <a:t>Résultat : Charge mentale énorme et coûts d'intégration prohibitifs.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103" y="1058091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✅ La Révolution : MonIDEAgentIA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CD6F6"/>
                </a:solidFill>
              </a:rPr>
              <a:t>Une fusion inédite entre un IDE et une plateforme Multi-Agents.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122023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000"/>
              </a:lnSpc>
              <a:buNone/>
            </a:pPr>
            <a:r>
              <a:rPr lang="en-US" sz="1800" dirty="0">
                <a:solidFill>
                  <a:srgbClr val="8892B0"/>
                </a:solidFill>
              </a:rPr>
              <a:t>1. 🤖 Agents Autonomes : Terminaux intelligents qui se corrigent seuls (ReAct).</a:t>
            </a:r>
            <a:endParaRPr lang="en-US" sz="1800" dirty="0"/>
          </a:p>
          <a:p>
            <a:pPr marL="0" indent="0">
              <a:lnSpc>
                <a:spcPts val="4000"/>
              </a:lnSpc>
              <a:buNone/>
            </a:pPr>
            <a:r>
              <a:rPr lang="en-US" sz="1800" dirty="0">
                <a:solidFill>
                  <a:srgbClr val="8892B0"/>
                </a:solidFill>
              </a:rPr>
              <a:t>2. 🧩 Workflows Visuels : Automatisation Drag&amp;Drop (CI/CD, Analyse) sans quitter le code.</a:t>
            </a:r>
            <a:endParaRPr lang="en-US" sz="1800" dirty="0"/>
          </a:p>
          <a:p>
            <a:pPr marL="0" indent="0">
              <a:lnSpc>
                <a:spcPts val="4000"/>
              </a:lnSpc>
              <a:buNone/>
            </a:pPr>
            <a:r>
              <a:rPr lang="en-US" sz="1800" dirty="0">
                <a:solidFill>
                  <a:srgbClr val="8892B0"/>
                </a:solidFill>
              </a:rPr>
              <a:t>3. 🌐 Hybride &amp; Local-First : Confidentialité locale (Ollama) + Stratégie Cloud (Gemini/Claude).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726" y="1110343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📊 Comparaison avec la Concurrence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8229600" cy="21336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64FFDA"/>
                          </a:solidFill>
                        </a:rPr>
                        <a:t>Fonctionnalité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5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64FFDA"/>
                          </a:solidFill>
                        </a:rPr>
                        <a:t>VS Code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5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64FFDA"/>
                          </a:solidFill>
                        </a:rPr>
                        <a:t>Cursor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5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64FFDA"/>
                          </a:solidFill>
                        </a:rPr>
                        <a:t>Devin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5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64FFDA"/>
                          </a:solidFill>
                        </a:rPr>
                        <a:t>MonIDEAgentIA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5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CCD6F6"/>
                          </a:solidFill>
                        </a:rPr>
                        <a:t>Éditeur natif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CCD6F6"/>
                          </a:solidFill>
                        </a:rPr>
                        <a:t>✅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CCD6F6"/>
                          </a:solidFill>
                        </a:rPr>
                        <a:t>✅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CCD6F6"/>
                          </a:solidFill>
                        </a:rPr>
                        <a:t>❌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CCD6F6"/>
                          </a:solidFill>
                        </a:rPr>
                        <a:t>✅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CCD6F6"/>
                          </a:solidFill>
                        </a:rPr>
                        <a:t>Auto-complétion IA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CCD6F6"/>
                          </a:solidFill>
                        </a:rPr>
                        <a:t>❌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CCD6F6"/>
                          </a:solidFill>
                        </a:rPr>
                        <a:t>✅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CCD6F6"/>
                          </a:solidFill>
                        </a:rPr>
                        <a:t>✅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CCD6F6"/>
                          </a:solidFill>
                        </a:rPr>
                        <a:t>✅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CCD6F6"/>
                          </a:solidFill>
                        </a:rPr>
                        <a:t>Terminaux Autonomes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CCD6F6"/>
                          </a:solidFill>
                        </a:rPr>
                        <a:t>❌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CCD6F6"/>
                          </a:solidFill>
                        </a:rPr>
                        <a:t>❌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CCD6F6"/>
                          </a:solidFill>
                        </a:rPr>
                        <a:t>✅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CCD6F6"/>
                          </a:solidFill>
                        </a:rPr>
                        <a:t>✅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CCD6F6"/>
                          </a:solidFill>
                        </a:rPr>
                        <a:t>Workflows Drag&amp;Drop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CCD6F6"/>
                          </a:solidFill>
                        </a:rPr>
                        <a:t>❌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CCD6F6"/>
                          </a:solidFill>
                        </a:rPr>
                        <a:t>❌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CCD6F6"/>
                          </a:solidFill>
                        </a:rPr>
                        <a:t>❌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CCD6F6"/>
                          </a:solidFill>
                        </a:rPr>
                        <a:t>✅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CCD6F6"/>
                          </a:solidFill>
                        </a:rPr>
                        <a:t>Catalogue n8n inclus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CCD6F6"/>
                          </a:solidFill>
                        </a:rPr>
                        <a:t>❌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CCD6F6"/>
                          </a:solidFill>
                        </a:rPr>
                        <a:t>❌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CCD6F6"/>
                          </a:solidFill>
                        </a:rPr>
                        <a:t>❌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CCD6F6"/>
                          </a:solidFill>
                        </a:rPr>
                        <a:t>✅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CCD6F6"/>
                          </a:solidFill>
                        </a:rPr>
                        <a:t>Local-First / Privacy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CCD6F6"/>
                          </a:solidFill>
                        </a:rPr>
                        <a:t>✅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CCD6F6"/>
                          </a:solidFill>
                        </a:rPr>
                        <a:t>❌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CCD6F6"/>
                          </a:solidFill>
                        </a:rPr>
                        <a:t>❌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CCD6F6"/>
                          </a:solidFill>
                        </a:rPr>
                        <a:t>✅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⚙️ Architecture Hybride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CD6F6"/>
                </a:solidFill>
              </a:rPr>
              <a:t>Conçue pour la résilience, la vitesse et la Privacy By Design.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14400" y="2286000"/>
            <a:ext cx="2743200" cy="914400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2860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Agent Cloud Premium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(Gemini 2.5 Pro)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0" y="2286000"/>
            <a:ext cx="2743200" cy="914400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0" y="22860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Agent Local Privé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(Ollama / Llama 3)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971800" y="3657600"/>
            <a:ext cx="2743200" cy="914400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9" name="Text 7"/>
          <p:cNvSpPr/>
          <p:nvPr/>
        </p:nvSpPr>
        <p:spPr>
          <a:xfrm>
            <a:off x="2971800" y="36576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Moteur de Workflows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(n8n compatible)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📈 Projections &amp; ROI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4FFDA"/>
                </a:solidFill>
              </a:rPr>
              <a:t>💰 Le ROI chiffré (Équipe de 5 devs) 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87829" y="2971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000" dirty="0">
                <a:solidFill>
                  <a:srgbClr val="8892B0"/>
                </a:solidFill>
              </a:rPr>
              <a:t>• Gain de temps : ~15h/semaine par développeur.</a:t>
            </a:r>
            <a:endParaRPr lang="en-US" sz="20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000" dirty="0">
                <a:solidFill>
                  <a:srgbClr val="8892B0"/>
                </a:solidFill>
              </a:rPr>
              <a:t>• Économie annuelle estimée : +60 000 € (Fusion de Zapier, Cursor, Copilot).</a:t>
            </a:r>
            <a:endParaRPr lang="en-US" sz="20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000" dirty="0">
                <a:solidFill>
                  <a:srgbClr val="8892B0"/>
                </a:solidFill>
              </a:rPr>
              <a:t>• Temps de déploiement : Divisé par 3.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25435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🛒 Offre Commerciale (SaaS Clé en Main)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8229600" cy="201168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64FFDA"/>
                          </a:solidFill>
                        </a:rPr>
                        <a:t>Piliers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5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64FFDA"/>
                          </a:solidFill>
                        </a:rPr>
                        <a:t>Tier "Pro"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5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64FFDA"/>
                          </a:solidFill>
                        </a:rPr>
                        <a:t>Tier "Entreprise"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5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CCD6F6"/>
                          </a:solidFill>
                        </a:rPr>
                        <a:t>Cible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CCD6F6"/>
                          </a:solidFill>
                        </a:rPr>
                        <a:t>Freelances, Startups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CCD6F6"/>
                          </a:solidFill>
                        </a:rPr>
                        <a:t>Grands Comptes, ESN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CCD6F6"/>
                          </a:solidFill>
                        </a:rPr>
                        <a:t>Hébergement IA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CCD6F6"/>
                          </a:solidFill>
                        </a:rPr>
                        <a:t>Cloud Sécurisé Mutualisé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CCD6F6"/>
                          </a:solidFill>
                        </a:rPr>
                        <a:t>Dédié (VPC) ou On-Premise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CCD6F6"/>
                          </a:solidFill>
                        </a:rPr>
                        <a:t>Confidentialité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CCD6F6"/>
                          </a:solidFill>
                        </a:rPr>
                        <a:t>Zero Data Retention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CCD6F6"/>
                          </a:solidFill>
                        </a:rPr>
                        <a:t>Local-First Ollama Exclusif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CCD6F6"/>
                          </a:solidFill>
                        </a:rPr>
                        <a:t>Workflows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CCD6F6"/>
                          </a:solidFill>
                        </a:rPr>
                        <a:t>Illimités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CCD6F6"/>
                          </a:solidFill>
                        </a:rPr>
                        <a:t>Illimités + Partagés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CCD6F6"/>
                          </a:solidFill>
                        </a:rPr>
                        <a:t>Prix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CCD6F6"/>
                          </a:solidFill>
                        </a:rPr>
                        <a:t>29€ / mois / util.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CCD6F6"/>
                          </a:solidFill>
                        </a:rPr>
                        <a:t>49€ / mois / util.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389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FFDA"/>
                </a:solidFill>
              </a:rPr>
              <a:t>🚀 Prêt à transformer votre façon de développer ? contact@monideagentia.com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412</Words>
  <Application>Microsoft Office PowerPoint</Application>
  <PresentationFormat>Affichage à l'écran (16:9)</PresentationFormat>
  <Paragraphs>92</Paragraphs>
  <Slides>7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MonIDEAgentIA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MonIDEAgentIA - Pitch Deck</dc:title>
  <dc:subject>Pitch Deck</dc:subject>
  <dc:creator>MonIDEAgentIA</dc:creator>
  <cp:lastModifiedBy>wissal bensadoun</cp:lastModifiedBy>
  <cp:revision>2</cp:revision>
  <dcterms:created xsi:type="dcterms:W3CDTF">2026-02-21T19:10:43Z</dcterms:created>
  <dcterms:modified xsi:type="dcterms:W3CDTF">2026-02-21T19:13:52Z</dcterms:modified>
</cp:coreProperties>
</file>